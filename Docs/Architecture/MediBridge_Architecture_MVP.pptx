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0" kern="0" dirty="0">
                <a:solidFill>
                  <a:srgbClr val="F18F0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MEDIBRIDGE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6CD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범위 — 5대 PC + 안드로이드 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5120640"/>
            <a:ext cx="10332720" cy="1188720"/>
          </a:xfrm>
          <a:prstGeom prst="rect">
            <a:avLst/>
          </a:prstGeom>
          <a:solidFill>
            <a:srgbClr val="1A3454"/>
          </a:solidFill>
          <a:ln w="12700">
            <a:solidFill>
              <a:srgbClr val="1A3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복약·건강 통합 케어 플랫폼  </a:t>
            </a:r>
            <a:pPr indent="0" marL="0">
              <a:buNone/>
            </a:pPr>
            <a:r>
              <a:rPr lang="en-US" sz="1400" dirty="0">
                <a:solidFill>
                  <a:srgbClr val="B6CD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 알약 식별 · DUR 안전 점검 · 복약 이력 · 통합 보고서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CD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김윤식·심동주·인효     </a:t>
            </a:r>
            <a:pPr indent="0" marL="0">
              <a:buNone/>
            </a:pPr>
            <a:r>
              <a:rPr lang="en-US" sz="1200" b="1" dirty="0">
                <a:solidFill>
                  <a:srgbClr val="B6CD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교수: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이동녘     </a:t>
            </a:r>
            <a:pPr indent="0" marL="0">
              <a:buNone/>
            </a:pPr>
            <a:r>
              <a:rPr lang="en-US" sz="1200" b="1" dirty="0">
                <a:solidFill>
                  <a:srgbClr val="B6CD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개정: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8F0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시스템 구성 — 5대 PC + 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5998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2011680" cy="146304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09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안드로이드 S24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14+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· 마이크 · STT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150876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80760" y="1508760"/>
            <a:ext cx="2011680" cy="14630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709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식약처 OpenAPI (외부)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7220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apis.data.go.kr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4C81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291840"/>
            <a:ext cx="2011680" cy="14630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93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PC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10/11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Qt6 + QML · TTS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08960" y="329184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08960" y="3291840"/>
            <a:ext cx="2011680" cy="14630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493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서버 PC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10.10.10.97 : 8001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Drogon C++ + MariaDB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480060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5A8C5A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800600"/>
            <a:ext cx="2011680" cy="146304"/>
          </a:xfrm>
          <a:prstGeom prst="rect">
            <a:avLst/>
          </a:prstGeom>
          <a:solidFill>
            <a:srgbClr val="5A8C5A"/>
          </a:solidFill>
          <a:ln w="12700">
            <a:solidFill>
              <a:srgbClr val="5A8C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5001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PC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" y="5303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10.10.10.120 : 8002 · GPU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0.5 · RAG · ChromaDB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08960" y="480060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08960" y="4800600"/>
            <a:ext cx="2011680" cy="14630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5001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PC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00400" y="5303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10.10.10.128 : 8003 · GPU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 · PaddleOCR · OpenCV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480060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8B7355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4800600"/>
            <a:ext cx="2011680" cy="14630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5001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보관 PC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72200" y="5303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10.10.10.122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전용 저장소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08760" y="2697480"/>
            <a:ext cx="0" cy="594360"/>
          </a:xfrm>
          <a:prstGeom prst="line">
            <a:avLst/>
          </a:prstGeom>
          <a:noFill/>
          <a:ln w="31750">
            <a:solidFill>
              <a:srgbClr val="F18F01"/>
            </a:solidFill>
            <a:prstDash val="solid"/>
            <a:headEnd type="triangl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344168" y="2830068"/>
            <a:ext cx="329184" cy="329184"/>
          </a:xfrm>
          <a:prstGeom prst="ellipse">
            <a:avLst/>
          </a:prstGeom>
          <a:solidFill>
            <a:srgbClr val="F18F0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44168" y="2830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14600" y="3886200"/>
            <a:ext cx="5943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647188" y="3721608"/>
            <a:ext cx="329184" cy="32918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47188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 flipV="1">
            <a:off x="4114800" y="2971800"/>
            <a:ext cx="0" cy="320040"/>
          </a:xfrm>
          <a:prstGeom prst="line">
            <a:avLst/>
          </a:prstGeom>
          <a:noFill/>
          <a:ln w="31750">
            <a:solidFill>
              <a:srgbClr val="5A8C5A"/>
            </a:solidFill>
            <a:prstDash val="solid"/>
            <a:headEnd type="triangl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4114800" y="2971800"/>
            <a:ext cx="2971800" cy="0"/>
          </a:xfrm>
          <a:prstGeom prst="line">
            <a:avLst/>
          </a:prstGeom>
          <a:noFill/>
          <a:ln w="31750">
            <a:solidFill>
              <a:srgbClr val="5A8C5A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 flipV="1">
            <a:off x="7086600" y="2697480"/>
            <a:ext cx="0" cy="274320"/>
          </a:xfrm>
          <a:prstGeom prst="line">
            <a:avLst/>
          </a:prstGeom>
          <a:noFill/>
          <a:ln w="31750">
            <a:solidFill>
              <a:srgbClr val="5A8C5A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436108" y="2807208"/>
            <a:ext cx="329184" cy="329184"/>
          </a:xfrm>
          <a:prstGeom prst="ellipse">
            <a:avLst/>
          </a:prstGeom>
          <a:solidFill>
            <a:srgbClr val="5A8C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36108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114800" y="4480560"/>
            <a:ext cx="0" cy="32004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950208" y="4475988"/>
            <a:ext cx="329184" cy="32918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50208" y="4475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474720" y="4480560"/>
            <a:ext cx="0" cy="155448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headEnd type="triangle"/>
            <a:tailEnd type="none"/>
          </a:ln>
        </p:spPr>
      </p:sp>
      <p:sp>
        <p:nvSpPr>
          <p:cNvPr id="48" name="Shape 46"/>
          <p:cNvSpPr/>
          <p:nvPr/>
        </p:nvSpPr>
        <p:spPr>
          <a:xfrm flipH="1">
            <a:off x="1508760" y="4636008"/>
            <a:ext cx="1965960" cy="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1508760" y="4636008"/>
            <a:ext cx="0" cy="164592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327148" y="4471416"/>
            <a:ext cx="329184" cy="32918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27148" y="4471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4480560"/>
            <a:ext cx="0" cy="155448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headEnd type="triangl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4754880" y="4636008"/>
            <a:ext cx="2331720" cy="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7086600" y="4636008"/>
            <a:ext cx="0" cy="164592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756148" y="4471416"/>
            <a:ext cx="329184" cy="32918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56148" y="4471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120640" y="5394960"/>
            <a:ext cx="960120" cy="0"/>
          </a:xfrm>
          <a:prstGeom prst="line">
            <a:avLst/>
          </a:prstGeom>
          <a:noFill/>
          <a:ln w="27940">
            <a:solidFill>
              <a:srgbClr val="5A8C5A"/>
            </a:solidFill>
            <a:prstDash val="dash"/>
            <a:headEnd type="triangl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436108" y="5230368"/>
            <a:ext cx="329184" cy="329184"/>
          </a:xfrm>
          <a:prstGeom prst="ellipse">
            <a:avLst/>
          </a:prstGeom>
          <a:solidFill>
            <a:srgbClr val="5A8C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6108" y="5230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514600" y="4160520"/>
            <a:ext cx="297180" cy="0"/>
          </a:xfrm>
          <a:prstGeom prst="line">
            <a:avLst/>
          </a:prstGeom>
          <a:noFill/>
          <a:ln w="27940">
            <a:solidFill>
              <a:srgbClr val="5A8C5A"/>
            </a:solidFill>
            <a:prstDash val="dash"/>
            <a:headEnd type="triangl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2811780" y="4160520"/>
            <a:ext cx="0" cy="2039112"/>
          </a:xfrm>
          <a:prstGeom prst="line">
            <a:avLst/>
          </a:prstGeom>
          <a:noFill/>
          <a:ln w="27940">
            <a:solidFill>
              <a:srgbClr val="5A8C5A"/>
            </a:solidFill>
            <a:prstDash val="dash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2811780" y="6199632"/>
            <a:ext cx="4274820" cy="0"/>
          </a:xfrm>
          <a:prstGeom prst="line">
            <a:avLst/>
          </a:prstGeom>
          <a:noFill/>
          <a:ln w="27940">
            <a:solidFill>
              <a:srgbClr val="5A8C5A"/>
            </a:solidFill>
            <a:prstDash val="dash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 flipV="1">
            <a:off x="7086600" y="5989320"/>
            <a:ext cx="0" cy="210312"/>
          </a:xfrm>
          <a:prstGeom prst="line">
            <a:avLst/>
          </a:prstGeom>
          <a:noFill/>
          <a:ln w="27940">
            <a:solidFill>
              <a:srgbClr val="5A8C5A"/>
            </a:solidFill>
            <a:prstDash val="dash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784598" y="6035040"/>
            <a:ext cx="329184" cy="329184"/>
          </a:xfrm>
          <a:prstGeom prst="ellipse">
            <a:avLst/>
          </a:prstGeom>
          <a:solidFill>
            <a:srgbClr val="5A8C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84598" y="6035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321040" y="14173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58200" y="1508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번호 가이드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8503920" y="1965960"/>
            <a:ext cx="329184" cy="329184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50392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8915400" y="194767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USB · ADB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 ↔ 클라PC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503920" y="251460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50392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8915400" y="249631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· 8001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클라PC ↔ 메인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503920" y="306324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50392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8915400" y="304495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· 8002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↔ LLM PC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503920" y="361188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50392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8915400" y="359359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· 8003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↔ Vision PC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8503920" y="416052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50392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8915400" y="414223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 플레인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↔ 데이터 보관 PC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8503920" y="4709160"/>
            <a:ext cx="329184" cy="329184"/>
          </a:xfrm>
          <a:prstGeom prst="ellipse">
            <a:avLst/>
          </a:prstGeom>
          <a:solidFill>
            <a:srgbClr val="5A8C5A"/>
          </a:solidFill>
          <a:ln w="12700">
            <a:solidFill>
              <a:srgbClr val="5A8C5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503920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8915400" y="469087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 / GET (직접)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 · Vision ↔ 보관 PC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503920" y="5257800"/>
            <a:ext cx="329184" cy="329184"/>
          </a:xfrm>
          <a:prstGeom prst="ellipse">
            <a:avLst/>
          </a:prstGeom>
          <a:solidFill>
            <a:srgbClr val="5A8C5A"/>
          </a:solidFill>
          <a:ln w="12700">
            <a:solidFill>
              <a:srgbClr val="5A8C5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503920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8915400" y="523951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· 443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↔ 식약처 (외부)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365760" y="6446520"/>
            <a:ext cx="116128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48640" y="646480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  </a:t>
            </a:r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━ </a:t>
            </a:r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REST/HTTP (JSON)    </a:t>
            </a:r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━ </a:t>
            </a:r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USB (ADB)    </a:t>
            </a:r>
            <a:pPr indent="0" marL="0">
              <a:buNone/>
            </a:pPr>
            <a:r>
              <a:rPr lang="en-US" sz="1400" b="1" dirty="0">
                <a:solidFill>
                  <a:srgbClr val="5A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‐ ‐ ‐ </a:t>
            </a:r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평면 (PUT/GET 직접)    </a:t>
            </a:r>
            <a:pPr indent="0" marL="0">
              <a:buNone/>
            </a:pPr>
            <a:r>
              <a:rPr lang="en-US" sz="1400" b="1" dirty="0">
                <a:solidFill>
                  <a:srgbClr val="5A8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━ </a:t>
            </a:r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(외부)    </a:t>
            </a:r>
            <a:pPr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①~⑦ </a:t>
            </a:r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구간 — 우측 가이드 참조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8F0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 MATRIX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 · 포트 · 기술 스택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457200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1554480"/>
                <a:gridCol w="822960"/>
                <a:gridCol w="1737360"/>
                <a:gridCol w="246888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디바이스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IP / 호스트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OS / HW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 스택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안드로이드 S24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USB / adb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14+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Galaxy AI · adb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 · 마이크 · 온디바이스 STT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클라이언트 PC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localhost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10/11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Qt6 + C++ + QML · QTextToSpeech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GUI · 폰 화면 캡쳐 · TTS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서버 PC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10.10.10.97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Ubuntu 24.04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Drogon C++ + MariaDB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비즈니스 로직 · 가명 매핑 · DUR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학습·추론 PC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10.10.10.120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Ubuntu 24.04 + GPU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FastAPI(예정) · ChromaDB · LLM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0.5 · Onboarding RAG · 일반 안내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Vision 학습·추론 PC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10.10.10.128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Ubuntu 24.04 + GPU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FastAPI(예정) · YOLO · PaddleOCR · OpenCV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알약 검출 · 각인 · 색·모양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보관 PC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10.10.10.122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Ubuntu 24.04 + 대용량 디스크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Drogon C++ 미니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PUT/GET 직접 (HMAC 토큰 검증)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식약처 OpenAPI (외부)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apis.data.go.kr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공공데이터포털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 · OpenAPI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낱알식별 / DUR / e약은요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   ④·⑤는 학습+추론 동거 (여유 PC 부족) — 포트·네트워크 정책상 향후 PC 증설 시 즉시 분리 가능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8F0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COMMUNICATION 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안드로이드 S24 ↔ 클라이언트 PC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5720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다이어그램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011680" cy="137160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안드로이드 S24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2011680" cy="13716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1031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PC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2697480"/>
            <a:ext cx="182880" cy="0"/>
          </a:xfrm>
          <a:prstGeom prst="line">
            <a:avLst/>
          </a:prstGeom>
          <a:noFill/>
          <a:ln w="38100">
            <a:solidFill>
              <a:srgbClr val="F18F01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3703320"/>
            <a:ext cx="4206240" cy="2926080"/>
          </a:xfrm>
          <a:prstGeom prst="rect">
            <a:avLst/>
          </a:prstGeom>
          <a:solidFill>
            <a:srgbClr val="F4F7FB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40480"/>
            <a:ext cx="39319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USB · Android Debug Bridge (ADB)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adb 데몬 5037 (PC측 로컬)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 바이너리 (사진), UTF-8 텍스트 (STT 결과)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 — 클라 → 폰 (촬영 트리거 / TTS 명령) / 폰 → 클라 (사진 · STT 텍스트)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463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주고받는 데이터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82880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명령 (`adb exec-out screencap -p`) — 폰 카메라 화면 캡쳐 → PNG 스트림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 STT 결과 — 폰의 Galaxy AI / SpeechRecognizer 가 변환한 한국어 텍스트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(선택) 폰 TTS 출력 — 음성 안내를 폰 스피커로 위임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3657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시나리오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402336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클라 GUI 의 '촬영 + 식별' 버튼 클릭 → adb 가 폰 카메라 화면 캡쳐 회수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등록 모드 — 폰이 STT 변환 후 텍스트만 송신 (음성 바이너리 비송신)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능동/대화형 가이드 — TTS 안내를 폰 스피커 또는 클라 PC 스피커로 출력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5852160"/>
            <a:ext cx="6217920" cy="731520"/>
          </a:xfrm>
          <a:prstGeom prst="rect">
            <a:avLst/>
          </a:prstGeom>
          <a:solidFill>
            <a:srgbClr val="FFF6E5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58978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   음성 바이너리는 폰 외부로 나가지 않음 → 대역폭 절감 + 개인정보 노출 위험 ↓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8F0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COMMUNICATION 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PC ↔ 메인 서버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5720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다이어그램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011680" cy="13716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PC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201168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1031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서버 PC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10.10.10.97 : 8001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2697480"/>
            <a:ext cx="1828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3703320"/>
            <a:ext cx="4206240" cy="2926080"/>
          </a:xfrm>
          <a:prstGeom prst="rect">
            <a:avLst/>
          </a:prstGeom>
          <a:solidFill>
            <a:srgbClr val="F4F7FB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40480"/>
            <a:ext cx="39319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on HTTP (Drogon C++)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 8001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(인증/약풀/이력/보고서/사진 메타) — 본문 multipart 없음 (사진은 ⑥ 직접 PUT)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 — 클라가 요청, 메인 서버가 응답. JWT(HS256) 인증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463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주고받는 데이터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82880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 — /v1/auth/{signup, login, logout}  (JWT)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 — /v1/media/{intent, commit, get_token}  [NEW]  사진 토큰 발급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 — /v1/pill/{identify, identify/narrow, onboarding/normalize}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Pool — /v1/pill/pool[/{id}|/all]  (GET/POST/DELETE)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— /v1/history/{record, list}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— /v1/report/generate (JSON / HTML / PDF)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Speech — /v1/speech/utterance (STT 의도 분류)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3657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시나리오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402336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→ JWT 받음 → 이후 모든 요청에 Authorization: Bearer 헤더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+ 식별 — ① /media/intent (메타·토큰) → ② 클라가 보관 PC 직접 PUT(⑥) → ③ /media/commit → ④ /pill/identify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등록 → /v1/speech/utterance (의도 분류) → /v1/pill/onboarding/normalize (다회 round-trip)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5852160"/>
            <a:ext cx="6217920" cy="731520"/>
          </a:xfrm>
          <a:prstGeom prst="rect">
            <a:avLst/>
          </a:prstGeom>
          <a:solidFill>
            <a:srgbClr val="FFF6E5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58978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   사진 본체는 메인서버 통과 X — 메인은 토큰만 발급(⑤), 본체는 ⑥ 데이터 평면 직접 PUT/GET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8F0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COMMUNICATION 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서버 ↔ LLM 학습·추론 PC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5720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다이어그램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01168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서버 PC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10.10.10.97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2011680" cy="1371600"/>
          </a:xfrm>
          <a:prstGeom prst="rect">
            <a:avLst/>
          </a:prstGeom>
          <a:solidFill>
            <a:srgbClr val="5A8C5A"/>
          </a:solidFill>
          <a:ln w="12700">
            <a:solidFill>
              <a:srgbClr val="5A8C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1031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PC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10.10.10.120 : 8002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2697480"/>
            <a:ext cx="1828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3703320"/>
            <a:ext cx="4206240" cy="2926080"/>
          </a:xfrm>
          <a:prstGeom prst="rect">
            <a:avLst/>
          </a:prstGeom>
          <a:solidFill>
            <a:srgbClr val="F4F7FB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40480"/>
            <a:ext cx="39319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on HTTP (FastAPI 예정)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 8002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요청·응답 (텍스트 입력 위주)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메인서버 → LLM PC 단방향 요청 / LLM PC → 메인서버 응답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463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주고받는 데이터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82880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0.5 의도 분류 — 사용자 발화 텍스트 → 카테고리 (식별/등록/이력 등)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Onboarding RAG — 약명 정규화 + ChromaDB 벡터 검색 + 동명·동성분 분기 질문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비의료 일반 안내 보조 — e약은요 비위험 정보 자연어 요약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(미사용) 의료 안내 영역 — LLM·RAG 절대 미사용 (DUR 위험 안내는 정해진 템플릿)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3657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시나리오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402336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'타이레놀 등록할게' → 메인이 LLM PC 에 NER + RAG 요청 → 후보 N개 반환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2~5건 → 분기 질문 생성 → 클라 TTS 안내 → 사용자 응답 round-trip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후보 → RESOLVED → 메인이 /v1/pill/pool 로 등록 진행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5852160"/>
            <a:ext cx="6217920" cy="731520"/>
          </a:xfrm>
          <a:prstGeom prst="rect">
            <a:avLst/>
          </a:prstGeom>
          <a:solidFill>
            <a:srgbClr val="FFF6E5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58978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   학습+추론 동거 (네트워크 분리 가능 설계). ChromaDB 벡터 DB 동거 (~수십 GB 임베딩)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8F0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COMMUNICATION 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서버 ↔ Vision 학습·추론 PC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5720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다이어그램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01168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서버 PC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10.10.10.97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2011680" cy="1371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1031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PC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10.10.10.128 : 8003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2697480"/>
            <a:ext cx="1828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3703320"/>
            <a:ext cx="4206240" cy="2926080"/>
          </a:xfrm>
          <a:prstGeom prst="rect">
            <a:avLst/>
          </a:prstGeom>
          <a:solidFill>
            <a:srgbClr val="F4F7FB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40480"/>
            <a:ext cx="39319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on HTTP (FastAPI 예정)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 8003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요청 (storage_url + get_token 포함), JSON 응답 (검출 결과)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메인서버 → Vision PC 추론 요청 / Vision PC → 데이터 보관 PC 사진 직접 GET (⑥)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463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주고받는 데이터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82880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/vision/detect_remote — 메인이 보내는 페이로드: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{ photo_id, storage_url, get_token(HS256 op=get), mime, purpose }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PC 동작 — get_token 으로 보관 PC 에 직접 GET → YOLO · PaddleOCR · OpenCV 추론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Narrow Down — 사용자 속성(색/모양/각인) 입력 받아 후보 좁히기 (Rule-based, LLM 미사용)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schema — { candidates:[{item_code,drug_name,confidence,match_keys}], confidence_tier 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3657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시나리오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402336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클라가 사진 업로드 → 메인이 /v1/pill/identify → Vision PC 로 라우팅 → 결과를 클라에 반환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 낮을 때 → /v1/pill/identify/narrow → 사용자 추가 속성 입력 → 후보 좁힘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시점 — Vision PC 가 데이터 보관 PC 에서 학습 데이터 일괄 PULL (통신 ⑥ 참조)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5852160"/>
            <a:ext cx="6217920" cy="731520"/>
          </a:xfrm>
          <a:prstGeom prst="rect">
            <a:avLst/>
          </a:prstGeom>
          <a:solidFill>
            <a:srgbClr val="FFF6E5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58978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   현재 PaddleOCR 사전학습 + OpenCV 휴리스틱. AI Hub 데이터 fine-tuning 으로 정확도 향상 예정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8F0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COMMUNICATION ⑤·⑥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보관 PC — 컨트롤 / 데이터 평면 분리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컨트롤 평면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서버 ↔ 데이터 보관 PC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프로토콜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REST · 8001 (Drogon C++)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메타 관리 · 단기 HMAC 토큰 발급 · 보관 PC /health 폴링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(request_id·photo_id·storage_url·put_token·get_token·expires_at)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메인서버 엔드포인트 (구현 완료)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/v1/media/intent — photo_id·storage_url·put_token (TTL 300s)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 보관 PC 후 POST /v1/media/commit — PENDING → READY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/v1/media/get_token — Vision PC 용 GET 토큰 (op=get)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photo_storage 메타 INSERT/UPDATE (anon·path·mime·status·expires_at)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↔ 보관 PC GET /health 모니터링 (사진 본체 전송 X)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73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91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73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데이터 평면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클라/Vision PC ↔ 데이터 보관 PC (직접)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프로토콜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 PC HTTP · 8004 (Drogon C++ 미니 서버)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본체 PUT/GET — 메인서버 우회 + HMAC 토큰 검증 (op·sub·jti·mime·exp)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image/jpeg · image/png 바이너리 (atomic write — .tmp → rename)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3977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 PC 엔드포인트 (구현 완료)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42976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 /storage/photos/{anon}/{photo_id}.{ext} — 클라 직접 업로드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/storage/photos/{anon}/{photo_id}.{ext} — Vision PC 다운로드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/health — 디스크 여유 + storage_root 존재 확인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11가지 보안 검증 (서명·iss·aud·exp·op·sub·jti·mime·max·CT·경로)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경로: &lt;root&gt;/&lt;anonymous_id&gt;/&lt;photo_id&gt;.&lt;ext&gt;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8F0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COMMUNICATION 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서버 ↔ 식약처 OpenAPI (외부)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5720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다이어그램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01168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서버 PC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10.10.10.97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2011680" cy="13716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1031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식약처 OpenAPI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apis.data.go.kr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2697480"/>
            <a:ext cx="182880" cy="0"/>
          </a:xfrm>
          <a:prstGeom prst="line">
            <a:avLst/>
          </a:prstGeom>
          <a:noFill/>
          <a:ln w="38100">
            <a:solidFill>
              <a:srgbClr val="5A8C5A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3703320"/>
            <a:ext cx="4206240" cy="2926080"/>
          </a:xfrm>
          <a:prstGeom prst="rect">
            <a:avLst/>
          </a:prstGeom>
          <a:solidFill>
            <a:srgbClr val="F4F7FB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40480"/>
            <a:ext cx="39319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(TLS 1.2+) — 공공데이터포털 REST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 443 (아웃바운드만)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또는 XML 응답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서버 → 식약처 단방향 호출 (캐시 미스 시에만)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463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주고받는 데이터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82880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낱알식별 정보 — 모양·색·제조사·각인 (운영 중 호출 X — CSV/스마트싱크 일괄 적재)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DUR 품목 정보 — 병용금기·연령금기 등 (일괄 적재)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DUR 성분 정보 — 성분 단위 안전정보 (일괄 적재)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e약은요 — 효능·복용법·주의사항 (사용자 요청 시점에 lazy 캐싱, 만료 정책 없음)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3657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시나리오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402336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처음 보는 약을 풀에 등록 → 메인이 drug_overview 에 캐시 미스 → 식약처 API 호출 → DB 적재 → 응답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약을 다음 사용자가 요청 → 캐시 hit → 외부 호출 없음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갱신 — 낱알식별·DUR 데이터는 식약처 CSV/스마트싱크로 월 1회 또는 수동 갱신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5852160"/>
            <a:ext cx="6217920" cy="731520"/>
          </a:xfrm>
          <a:prstGeom prst="rect">
            <a:avLst/>
          </a:prstGeom>
          <a:solidFill>
            <a:srgbClr val="FFF6E5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58978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   운영 중 외부 API 호출은 거의 발생하지 않음 — 외부 의존성 최소화 + 가용성 ↑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8F0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PRINCIPLES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 원칙 — 한눈에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91440" cy="14173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5대 + 폰 분리 구성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/ 데이터보관 / LLM / Vision / 클라 + 폰 — 카테고리별 분리, 학습+추론 동거 (네트워크 분리 가능 설계)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463040"/>
            <a:ext cx="91440" cy="1417320"/>
          </a:xfrm>
          <a:prstGeom prst="rect">
            <a:avLst/>
          </a:prstGeom>
          <a:solidFill>
            <a:srgbClr val="5A8C5A"/>
          </a:solidFill>
          <a:ln w="12700">
            <a:solidFill>
              <a:srgbClr val="5A8C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00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카테고리별 분리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199339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PC (8002) · Vision PC (8003) 분리 — 워크로드 특성·메모리 프로파일 상이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463040"/>
            <a:ext cx="914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600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가명화 단일-컷 매핑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199339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user_id → anonymous_id 단일 끊기. PIPA·GDPR 가명처리 직접 준수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54680"/>
            <a:ext cx="91440" cy="1417320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사진·음성 분리 저장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368503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= 데이터 보관 PC 전용 / 음성 = 폰 외부 비송신 + STT 텍스트만 흐름 (DB 비저장)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315468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3154680"/>
            <a:ext cx="91440" cy="1417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 ↔ 데이터 평면 분리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368503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서버 = 메타·토큰 발급 / 클라·Vision PC = 데이터 보관 PC 직접 PUT·GET (AWS S3+RDS 패턴)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315468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8160" y="3154680"/>
            <a:ext cx="91440" cy="14173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 안내 LLM·RAG 금지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6760" y="368503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DUR 위험 안내는 정해진 템플릿 + 식약처 데이터 인용. RAG 허용 영역 = Onboarding + 비의료 일반 안내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solidFill>
            <a:srgbClr val="1A3454"/>
          </a:solidFill>
          <a:ln w="12700">
            <a:solidFill>
              <a:srgbClr val="1A34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09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정본 문서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시스템 흐름 정리본 v3.0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시스템_연결구조 v2.2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Api/ApiOverview v0.3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DB_ERD v4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TestMode.md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메디브릿지 시스템 아키텍처 (MVP)</dc:title>
  <dc:subject>PptxGenJS Presentation</dc:subject>
  <dc:creator>MediBridge Team</dc:creator>
  <cp:lastModifiedBy>MediBridge Team</cp:lastModifiedBy>
  <cp:revision>1</cp:revision>
  <dcterms:created xsi:type="dcterms:W3CDTF">2026-05-13T03:00:59Z</dcterms:created>
  <dcterms:modified xsi:type="dcterms:W3CDTF">2026-05-13T03:00:59Z</dcterms:modified>
</cp:coreProperties>
</file>